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0360152" cy="4572000"/>
          </a:xfrm>
          <a:prstGeom prst="rect">
            <a:avLst/>
          </a:prstGeom>
          <a:solidFill>
            <a:srgbClr val="131A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439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38BDF8"/>
                </a:solidFill>
              </a:rPr>
              <a:t>PQC MIGRATION ANALYZER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94392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0">
                <a:solidFill>
                  <a:srgbClr val="B0B8CC"/>
                </a:solidFill>
              </a:rPr>
              <a:t>A Research-Grade Static Analysis Tool for PQC Java Repositories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4206240"/>
            <a:ext cx="6702552" cy="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0">
                <a:solidFill>
                  <a:srgbClr val="A78BFA"/>
                </a:solidFill>
              </a:rPr>
              <a:t>Semester 4 Project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rgbClr val="131A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Threat Model &amp; Migration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486400" cy="1828800"/>
          </a:xfrm>
          <a:prstGeom prst="rect">
            <a:avLst/>
          </a:prstGeom>
          <a:solidFill>
            <a:srgbClr val="131A3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731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10312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486400" cy="18288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731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4ADE8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Core Java Analyzer &amp; Risk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931920"/>
            <a:ext cx="5486400" cy="1828800"/>
          </a:xfrm>
          <a:prstGeom prst="rect">
            <a:avLst/>
          </a:prstGeom>
          <a:solidFill>
            <a:srgbClr val="131A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731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FBBF24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438912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Evaluation, Results &amp; 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The Quantum Threat &amp; Cryptography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⚡  The 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🔐  Vulnerable Algorithms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Shor's breaks RSA, ECC, and DH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Quantum computers: 10-15 years away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Harvest Now, Decrypt Later threat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NIST standards: Kyber &amp; Dilithium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103120"/>
          <a:ext cx="53035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463040"/>
              </a:tblGrid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Safe?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RSA-2048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Signatures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 Broken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ECDSA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Signatures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 Broken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DH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Key Exch.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 Broken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AES-256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Encrypt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BBF24"/>
                          </a:solidFill>
                        </a:defRPr>
                      </a:pPr>
                      <a:r>
                        <a:t>⚠️ Weak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4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SHA-256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Hashing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BBF24"/>
                          </a:solidFill>
                        </a:defRPr>
                      </a:pPr>
                      <a:r>
                        <a:t>⚠️ Weak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The Migration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109728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Thousands of crypto call-sites scattered across files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Crypto usage is often hidden inside frameworks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Manual auditing is slow, expensive, and error-prone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No standard tool to track exposure or data taint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360152" cy="1188720"/>
          </a:xfrm>
          <a:prstGeom prst="rect">
            <a:avLst/>
          </a:prstGeom>
          <a:solidFill>
            <a:srgbClr val="1E1A0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99439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1">
                <a:solidFill>
                  <a:srgbClr val="FBBF24"/>
                </a:solidFill>
              </a:rPr>
              <a:t>💡 Enterprise Java projects average 50–200 crypto call-sites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PQC Platform &amp;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🚀 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🎯  Objectives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Clones &amp; analyzes public Java repos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Returns full PQC vulnerability report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Key innovations: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- AST-based detection (not regex)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- Interprocedural exposure modeling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- Taint tracking (user data to sink)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AST Java static analyzer</a:t>
            </a:r>
          </a:p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5-phase analysis pipeline</a:t>
            </a:r>
          </a:p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Express backend + Redis queue</a:t>
            </a:r>
          </a:p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React visualization dashboard</a:t>
            </a:r>
          </a:p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Quantum Risk Score (0-100)</a:t>
            </a:r>
          </a:p>
          <a:p>
            <a:pPr>
              <a:spcAft>
                <a:spcPts val="1000"/>
              </a:spcAft>
              <a:defRPr sz="2500" i="0">
                <a:solidFill>
                  <a:srgbClr val="4ADE80"/>
                </a:solidFill>
              </a:defRPr>
            </a:pPr>
            <a:r>
              <a:t>✅ Actionable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System Architecture — End to 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261104" y="1280160"/>
            <a:ext cx="36576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2544" y="137160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38BDF8"/>
                </a:solidFill>
              </a:rPr>
              <a:t>Browser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04" y="2468880"/>
            <a:ext cx="36576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2544" y="256032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A78BFA"/>
                </a:solidFill>
              </a:rPr>
              <a:t>Express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2004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BBF24"/>
                </a:solidFill>
              </a:rPr>
              <a:t>Redis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3657600"/>
            <a:ext cx="36576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3749039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38BDF8"/>
                </a:solidFill>
              </a:rPr>
              <a:t>Job Worker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3657600"/>
            <a:ext cx="32004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3749039"/>
            <a:ext cx="3017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4ADE80"/>
                </a:solidFill>
              </a:rPr>
              <a:t>PostgreSQL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5029200"/>
            <a:ext cx="3657600" cy="640080"/>
          </a:xfrm>
          <a:prstGeom prst="rect">
            <a:avLst/>
          </a:prstGeom>
          <a:solidFill>
            <a:srgbClr val="131A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512064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87171"/>
                </a:solidFill>
              </a:rPr>
              <a:t>Java Analyzer JAR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9904" y="1920240"/>
            <a:ext cx="0" cy="5486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REST API + JWT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057400" y="2788920"/>
            <a:ext cx="2203704" cy="86868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28346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LPUSH job 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18704" y="2788920"/>
            <a:ext cx="2212848" cy="86868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0" y="283464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Read/Write metadata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3977639"/>
            <a:ext cx="603504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3891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BRPOP (Worker)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18704" y="3977639"/>
            <a:ext cx="612648" cy="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31352" y="43891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Store results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9904" y="4297680"/>
            <a:ext cx="0" cy="73152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0" y="45262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spawn JAR  →  JSON stdout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solidFill>
            <a:srgbClr val="131A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1">
                <a:solidFill>
                  <a:srgbClr val="4ADE80"/>
                </a:solidFill>
              </a:rPr>
              <a:t>🛡️ Sandbox always cleaned up after each job (security guarantee)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Architecture &amp; Tech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389120"/>
              </a:tblGrid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React + TS + Vite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Tailwind, shadcn, Router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Node.js + Express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Postgres, Redis, JWT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Analyzer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Java 17 + Maven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JavaParser, Gson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5486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Communication Contracts: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Frontend ↔ Backend: REST + JWT (Bearer token)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Backend ↔ Analyzer: JSON via stdout (process spawn)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Java Analyzer CLI — Core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500" i="0">
                <a:solidFill>
                  <a:srgbClr val="FFFFFF"/>
                </a:solidFill>
              </a:defRPr>
            </a:pPr>
            <a:r>
              <a:t>• Self-contained fat JAR via Maven Assembly Plugin</a:t>
            </a:r>
          </a:p>
          <a:p>
            <a:pPr>
              <a:spcAft>
                <a:spcPts val="800"/>
              </a:spcAft>
              <a:defRPr sz="2500" i="0">
                <a:solidFill>
                  <a:srgbClr val="FFFFFF"/>
                </a:solidFill>
              </a:defRPr>
            </a:pPr>
            <a:r>
              <a:t>• Invoked by worker: java -jar analyzer.jar</a:t>
            </a:r>
          </a:p>
          <a:p>
            <a:pPr>
              <a:spcAft>
                <a:spcPts val="800"/>
              </a:spcAft>
              <a:defRPr sz="2500" i="0">
                <a:solidFill>
                  <a:srgbClr val="FFFFFF"/>
                </a:solidFill>
              </a:defRPr>
            </a:pPr>
            <a:r>
              <a:t>• Outputs structured JSON response to stdout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solidFill>
            <a:srgbClr val="050A1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789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4ADE80"/>
                </a:solidFill>
              </a:rPr>
              <a:t>java -jar analyzer.jar --repoPath &lt;sandbox&gt;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solidFill>
            <a:srgbClr val="050A1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A78BFA"/>
                </a:solidFill>
              </a:rPr>
              <a:t>Sample JSON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789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{
  "systemQRS": 87.5,
  "findings": [
    { "file": "AuthService.java", "line": 44, "algorithm": "RSA", "riskScore": 100 }
  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5-Phase Analysis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8016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19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39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38BDF8"/>
                </a:solidFill>
              </a:rPr>
              <a:t>AST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39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Parse files to AST CompilationUnits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A78BFA"/>
                </a:solidFill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Scan AST for cryptographic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4ADE8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4ADE80"/>
                </a:solidFill>
              </a:rPr>
              <a:t>USAGE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80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Classify: Encryption, Signature,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19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39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BBF24"/>
                </a:solidFill>
              </a:rPr>
              <a:t>EXPOSURE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920239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Build call graph for exposure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F87171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10896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F87171"/>
                </a:solidFill>
              </a:rPr>
              <a:t>TAINT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566160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Track user request data to sinks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72000"/>
            <a:ext cx="5394960" cy="1371600"/>
          </a:xfrm>
          <a:prstGeom prst="rect">
            <a:avLst/>
          </a:prstGeom>
          <a:solidFill>
            <a:srgbClr val="131A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937760"/>
            <a:ext cx="548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75488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38BDF8"/>
                </a:solidFill>
              </a:rPr>
              <a:t>RISK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12080"/>
            <a:ext cx="4389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Compute QRS (0-100) per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Phase 1 &amp; 2 — Detection &amp; Usage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Phase 1: AST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Phase 2: Usage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914400"/>
              </a:tblGrid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AST Node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Algo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MethodCall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getInstance("RSA")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ObjectCreation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RSAKeyGenSpec(2048)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VariableDecl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RSAPublicKey key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ObjectCreation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ECGenParameterSpec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EC-256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1663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A78BFA"/>
                </a:solidFill>
              </a:rPr>
              <a:t>Monitored classes: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51206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B0B8CC"/>
                </a:solidFill>
              </a:rPr>
              <a:t>Signature • KeyPairGenerator • Cipher • KeyFactory • KeyAgreement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011680"/>
          <a:ext cx="53035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Usage Type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PQC Replacement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ENCRYPTION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CRYSTALS-Kyber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KEY_EXCHANGE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CRYSTALS-Kyber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CRYSTALS-Dilithium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CERTIFICATE_SIG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CRYSTALS-Dilithium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4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KEY_GENERATION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Context-dependent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Exposure &amp; Taint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Phase 3: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Phase 4: Taint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01168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Builds interprocedural call graph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Exposure propagation rules: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🔴 @RestController → HIGH (+10 QRS)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🟠 Called from HIGH → MEDIUM (+5 QRS)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  🟢 Internal / Unreachable → LOW (+0 QRS)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Source: @RequestBody parameters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Sink: Signature.update(), Cipher.doFinal()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Tainted path adds +10 to QRS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303520"/>
            <a:ext cx="11338560" cy="82296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1">
                <a:solidFill>
                  <a:srgbClr val="FBBF24"/>
                </a:solidFill>
              </a:rPr>
              <a:t>⚡ RSA signing with user data via REST endpoint scores 100 QRS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Quantum Risk Score (QRS)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Scoring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Calculations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011680"/>
            <a:ext cx="530352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Base: RSA = 80, EC = 75, Symmetric = 0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Modifiers: High Exposure = +10, Taint = +10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Final QRS = clamp(Base + Modifiers, 0, 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731520"/>
                <a:gridCol w="731520"/>
                <a:gridCol w="731520"/>
                <a:gridCol w="1005840"/>
              </a:tblGrid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Taint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QRS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RSA, HIGH, Tainted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100 🔴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EC, MEDIUM, Clean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BBF24"/>
                          </a:solidFill>
                        </a:defRPr>
                      </a:pPr>
                      <a:r>
                        <a:t>75 🟠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RSA, LOW, Clean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80 🔴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AES, HIGH, Tainted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20 🟢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512064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1" i="0">
                <a:solidFill>
                  <a:srgbClr val="A78BFA"/>
                </a:solidFill>
              </a:rPr>
              <a:t>Score Zones: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5577840"/>
            <a:ext cx="1554480" cy="640080"/>
          </a:xfrm>
          <a:prstGeom prst="rect">
            <a:avLst/>
          </a:prstGeom>
          <a:solidFill>
            <a:srgbClr val="131A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623560"/>
            <a:ext cx="1463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4ADE80"/>
                </a:solidFill>
              </a:rPr>
              <a:t>0-40 🟢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5577840"/>
            <a:ext cx="1554480" cy="640080"/>
          </a:xfrm>
          <a:prstGeom prst="rect">
            <a:avLst/>
          </a:prstGeom>
          <a:solidFill>
            <a:srgbClr val="131A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5623560"/>
            <a:ext cx="1463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BBF24"/>
                </a:solidFill>
              </a:rPr>
              <a:t>41-70 🟠 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5577840"/>
            <a:ext cx="1554480" cy="640080"/>
          </a:xfrm>
          <a:prstGeom prst="rect">
            <a:avLst/>
          </a:prstGeom>
          <a:solidFill>
            <a:srgbClr val="131A3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5623560"/>
            <a:ext cx="1463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87171"/>
                </a:solidFill>
              </a:rPr>
              <a:t>71-100 🔴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Backend — REST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371600"/>
                <a:gridCol w="4846320"/>
              </a:tblGrid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/api/auth/login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Login and get JWT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/api/analyses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JWT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Submit GitHub repo URL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/api/analyses/:id/findings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JWT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Get detailed findings JSON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/api/analyses/:id/findings.csv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Export findings as CSV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Auth Flow &amp; Database details: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JWT auth: Token stored in localStorage, sent in Bearer header</a:t>
            </a:r>
          </a:p>
          <a:p>
            <a:pPr>
              <a:spcAft>
                <a:spcPts val="1000"/>
              </a:spcAft>
              <a:defRPr sz="2500" i="0">
                <a:solidFill>
                  <a:srgbClr val="FFFFFF"/>
                </a:solidFill>
              </a:defRPr>
            </a:pPr>
            <a:r>
              <a:t>• Database: PostgreSQL stores jobs and findings JSONB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Job Lifecycle &amp; Queue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80160"/>
            <a:ext cx="2286000" cy="731520"/>
          </a:xfrm>
          <a:prstGeom prst="rect">
            <a:avLst/>
          </a:prstGeom>
          <a:solidFill>
            <a:srgbClr val="131A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A78BFA"/>
                </a:solidFill>
              </a:rPr>
              <a:t>PENDING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64592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08960" y="1280160"/>
            <a:ext cx="2286000" cy="731520"/>
          </a:xfrm>
          <a:prstGeom prst="rect">
            <a:avLst/>
          </a:prstGeom>
          <a:solidFill>
            <a:srgbClr val="131A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141732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BBF24"/>
                </a:solidFill>
              </a:rPr>
              <a:t>CLONING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164592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760720" y="1280160"/>
            <a:ext cx="2286000" cy="731520"/>
          </a:xfrm>
          <a:prstGeom prst="rect">
            <a:avLst/>
          </a:prstGeom>
          <a:solidFill>
            <a:srgbClr val="131A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41732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38BDF8"/>
                </a:solidFill>
              </a:rPr>
              <a:t>ANALYZING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1645920"/>
            <a:ext cx="3657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0" y="1280160"/>
            <a:ext cx="2286000" cy="731520"/>
          </a:xfrm>
          <a:prstGeom prst="rect">
            <a:avLst/>
          </a:prstGeom>
          <a:solidFill>
            <a:srgbClr val="131A3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4ADE80"/>
                </a:solidFill>
              </a:rPr>
              <a:t>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103120"/>
            <a:ext cx="2286000" cy="731520"/>
          </a:xfrm>
          <a:prstGeom prst="rect">
            <a:avLst/>
          </a:prstGeom>
          <a:solidFill>
            <a:srgbClr val="131A3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87171"/>
                </a:solidFill>
              </a:rPr>
              <a:t>FAILED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55480" y="2011680"/>
            <a:ext cx="0" cy="9144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017520"/>
            <a:ext cx="1124712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1. Submit repo URL → Create job record (PENDING) and LPUSH to Redis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2. Worker BRPOP job → Clone repo to sandbox (CLONING)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3. Worker spawns Java Analyzer (ANALYZING) → Parse stdout JSON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4. Save findings to DB (COMPLETED/FAILED) &amp; purge sandbox (Cleanup 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Frontend — React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Components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01168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Landing: Public PQC introduction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Login/Register: JWT authentication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Dashboard: Submit repos &amp; history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Analysis Result: Findings &amp; QRS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RiskMeter: Animated QRS gauge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FindingDetailPanel: Slide-out details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StatusBadge: Job state indicator</a:t>
            </a:r>
          </a:p>
          <a:p>
            <a:pPr>
              <a:spcAft>
                <a:spcPts val="1200"/>
              </a:spcAft>
              <a:defRPr sz="2500" i="0">
                <a:solidFill>
                  <a:srgbClr val="FFFFFF"/>
                </a:solidFill>
              </a:defRPr>
            </a:pPr>
            <a:r>
              <a:t>• ProtectedRoute: JWT router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Evaluation &amp;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Baseline vs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Sample Findings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11680"/>
          <a:ext cx="51206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2011680"/>
              </a:tblGrid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Regex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AST Visitor ✅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Key Size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Exposure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79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Taint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4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QRS Score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0-100 ✅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914400"/>
                <a:gridCol w="914400"/>
              </a:tblGrid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Algo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 b="1">
                          <a:solidFill>
                            <a:srgbClr val="0A0E27"/>
                          </a:solidFill>
                        </a:defRPr>
                      </a:pPr>
                      <a:r>
                        <a:t>QRS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AuthService.java:44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RSA-2048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100 🔴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TokenSigner.java:78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RSA-1024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87171"/>
                          </a:solidFill>
                        </a:defRPr>
                      </a:pPr>
                      <a:r>
                        <a:t>100 🔴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CryptoUtil.java:112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EC-256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BBF24"/>
                          </a:solidFill>
                        </a:defRPr>
                      </a:pPr>
                      <a:r>
                        <a:t>75 🟠</a:t>
                      </a:r>
                    </a:p>
                  </a:txBody>
                  <a:tcPr anchor="ctr">
                    <a:solidFill>
                      <a:srgbClr val="131A3A"/>
                    </a:solidFill>
                  </a:tcPr>
                </a:tc>
              </a:tr>
              <a:tr h="640080"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DataEncryptor.java:33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AES-256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2500">
                          <a:solidFill>
                            <a:srgbClr val="4ADE80"/>
                          </a:solidFill>
                        </a:defRPr>
                      </a:pPr>
                      <a:r>
                        <a:t>0 🟢</a:t>
                      </a:r>
                    </a:p>
                  </a:txBody>
                  <a:tcPr anchor="ctr">
                    <a:solidFill>
                      <a:srgbClr val="1C254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5120640"/>
            <a:ext cx="5303520" cy="914400"/>
          </a:xfrm>
          <a:prstGeom prst="rect">
            <a:avLst/>
          </a:prstGeom>
          <a:solidFill>
            <a:srgbClr val="1A120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39496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FBBF24"/>
                </a:solidFill>
              </a:rPr>
              <a:t>System-wide QRS: 68.75 (Migration 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1">
                <a:solidFill>
                  <a:srgbClr val="B0B8CC"/>
                </a:solidFill>
              </a:rPr>
              <a:t>* evaluation/evaluate.py runs both modes on sandbox repos and outputs a CSV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Limitations &amp; Future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39495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51383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Future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097280"/>
            <a:ext cx="0" cy="530352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011680"/>
            <a:ext cx="53035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F87171"/>
                </a:solidFill>
              </a:defRPr>
            </a:pPr>
            <a:r>
              <a:t>• Supports Java only (no Python/Go)</a:t>
            </a:r>
          </a:p>
          <a:p>
            <a:pPr>
              <a:spcAft>
                <a:spcPts val="1200"/>
              </a:spcAft>
              <a:defRPr sz="2500" i="0">
                <a:solidFill>
                  <a:srgbClr val="F87171"/>
                </a:solidFill>
              </a:defRPr>
            </a:pPr>
            <a:r>
              <a:t>• Plaintext password storage (no bcrypt)</a:t>
            </a:r>
          </a:p>
          <a:p>
            <a:pPr>
              <a:spcAft>
                <a:spcPts val="1200"/>
              </a:spcAft>
              <a:defRPr sz="2500" i="0">
                <a:solidFill>
                  <a:srgbClr val="F87171"/>
                </a:solidFill>
              </a:defRPr>
            </a:pPr>
            <a:r>
              <a:t>• No symbol resolver (some UNKNOWN types)</a:t>
            </a:r>
          </a:p>
          <a:p>
            <a:pPr>
              <a:spcAft>
                <a:spcPts val="1200"/>
              </a:spcAft>
              <a:defRPr sz="2500" i="0">
                <a:solidFill>
                  <a:srgbClr val="F87171"/>
                </a:solidFill>
              </a:defRPr>
            </a:pPr>
            <a:r>
              <a:t>• Worker runs inside Express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2500" i="0">
                <a:solidFill>
                  <a:srgbClr val="4ADE80"/>
                </a:solidFill>
              </a:defRPr>
            </a:pPr>
            <a:r>
              <a:t>• Multi-language analyzer support</a:t>
            </a:r>
          </a:p>
          <a:p>
            <a:pPr>
              <a:spcAft>
                <a:spcPts val="1200"/>
              </a:spcAft>
              <a:defRPr sz="2500" i="0">
                <a:solidFill>
                  <a:srgbClr val="4ADE80"/>
                </a:solidFill>
              </a:defRPr>
            </a:pPr>
            <a:r>
              <a:t>• JavaParser Symbol Solver integration</a:t>
            </a:r>
          </a:p>
          <a:p>
            <a:pPr>
              <a:spcAft>
                <a:spcPts val="1200"/>
              </a:spcAft>
              <a:defRPr sz="2500" i="0">
                <a:solidFill>
                  <a:srgbClr val="4ADE80"/>
                </a:solidFill>
              </a:defRPr>
            </a:pPr>
            <a:r>
              <a:t>• Docker Compose local orchestration</a:t>
            </a:r>
          </a:p>
          <a:p>
            <a:pPr>
              <a:spcAft>
                <a:spcPts val="1200"/>
              </a:spcAft>
              <a:defRPr sz="2500" i="0">
                <a:solidFill>
                  <a:srgbClr val="4ADE80"/>
                </a:solidFill>
              </a:defRPr>
            </a:pPr>
            <a:r>
              <a:t>• Auto-migration code snippet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Takeaways &amp; Q&amp;A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280160"/>
            <a:ext cx="8686800" cy="731520"/>
          </a:xfrm>
          <a:prstGeom prst="rect">
            <a:avLst/>
          </a:prstGeom>
          <a:solidFill>
            <a:srgbClr val="131A3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19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795527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AST static analysis is much more accurate than regex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39"/>
            <a:ext cx="8686800" cy="731520"/>
          </a:xfrm>
          <a:prstGeom prst="rect">
            <a:avLst/>
          </a:prstGeom>
          <a:solidFill>
            <a:srgbClr val="131A3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5999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795527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Exposure &amp; taint analysis provide crucial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8686800" cy="731520"/>
          </a:xfrm>
          <a:prstGeom prst="rect">
            <a:avLst/>
          </a:prstGeom>
          <a:solidFill>
            <a:srgbClr val="131A3A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54679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1" i="0">
                <a:solidFill>
                  <a:srgbClr val="4ADE8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795527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QRS scoring prioritizes enterprise migration 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8686800" cy="2103120"/>
          </a:xfrm>
          <a:prstGeom prst="rect">
            <a:avLst/>
          </a:prstGeom>
          <a:solidFill>
            <a:srgbClr val="050A1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8412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500" i="0">
                <a:solidFill>
                  <a:srgbClr val="B0B8CC"/>
                </a:solidFill>
              </a:defRPr>
            </a:pPr>
            <a:r>
              <a:t>1. NIST PQC Standardization — csrc.nist.gov/projects/post-quantum-cryptography</a:t>
            </a:r>
          </a:p>
          <a:p>
            <a:pPr>
              <a:spcAft>
                <a:spcPts val="800"/>
              </a:spcAft>
              <a:defRPr sz="2500" i="0">
                <a:solidFill>
                  <a:srgbClr val="B0B8CC"/>
                </a:solidFill>
              </a:defRPr>
            </a:pPr>
            <a:r>
              <a:t>2. Shor, P.W. (1994). Algorithms for Quantum Computation. FOCS.</a:t>
            </a:r>
          </a:p>
          <a:p>
            <a:pPr>
              <a:spcAft>
                <a:spcPts val="800"/>
              </a:spcAft>
              <a:defRPr sz="2500" i="0">
                <a:solidFill>
                  <a:srgbClr val="B0B8CC"/>
                </a:solidFill>
              </a:defRPr>
            </a:pPr>
            <a:r>
              <a:t>3. JavaParser — javaparser.org | NIST FIPS 203 &amp; 204 Standards (2024)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651760" cy="4709160"/>
          </a:xfrm>
          <a:prstGeom prst="rect">
            <a:avLst/>
          </a:prstGeom>
          <a:solidFill>
            <a:srgbClr val="131A3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651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000" b="1" i="0">
                <a:solidFill>
                  <a:srgbClr val="38BDF8"/>
                </a:solidFill>
              </a:rPr>
              <a:t>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148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080760"/>
            <a:ext cx="8686800" cy="411480"/>
          </a:xfrm>
          <a:prstGeom prst="rect">
            <a:avLst/>
          </a:prstGeom>
          <a:solidFill>
            <a:srgbClr val="131A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8412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500" b="0" i="1">
                <a:solidFill>
                  <a:srgbClr val="38BDF8"/>
                </a:solidFill>
              </a:rPr>
              <a:t>"Migrate before the quantum computer does it for you."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</a:rPr>
              <a:t>Slide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